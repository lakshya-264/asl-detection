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3A8A"/>
                </a:solidFill>
              </a:defRPr>
            </a:pPr>
            <a:r>
              <a:t>American Sign Language</a:t>
            </a:r>
          </a:p>
          <a:p>
            <a:r>
              <a:t>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Deep Learning-Based Alphabet Recognition</a:t>
            </a:r>
          </a:p>
          <a:p>
            <a:r>
              <a:t>Using Convolutional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Understanding American Sign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ASL Overview</a:t>
            </a:r>
          </a:p>
          <a:p>
            <a:pPr lvl="1">
              <a:defRPr sz="2000"/>
            </a:pPr>
            <a:r>
              <a:t>• Complete, natural language for Deaf communities</a:t>
            </a:r>
          </a:p>
          <a:p>
            <a:pPr lvl="1">
              <a:defRPr sz="2000"/>
            </a:pPr>
            <a:r>
              <a:t>• Visual-gestural language with unique grammar</a:t>
            </a:r>
          </a:p>
          <a:p>
            <a:pPr lvl="1">
              <a:defRPr sz="2000"/>
            </a:pPr>
            <a:r>
              <a:t>• Used by 500,000+ people in US and Canada</a:t>
            </a:r>
          </a:p>
          <a:p>
            <a:pPr>
              <a:defRPr sz="2200" b="1"/>
            </a:pPr>
            <a:r>
              <a:t>ASL Alphabet</a:t>
            </a:r>
          </a:p>
          <a:p>
            <a:pPr lvl="1">
              <a:defRPr sz="2000"/>
            </a:pPr>
            <a:r>
              <a:t>• 26 manual letters (A-Z) for fingerspelling</a:t>
            </a:r>
          </a:p>
          <a:p>
            <a:pPr lvl="1">
              <a:defRPr sz="2000"/>
            </a:pPr>
            <a:r>
              <a:t>• Used for names, places, technical terms</a:t>
            </a:r>
          </a:p>
          <a:p>
            <a:pPr lvl="1">
              <a:defRPr sz="2000"/>
            </a:pPr>
            <a:r>
              <a:t>• 3 Special Signs: SPACE, DELETE, NOTHING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The Challenge We're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 Overview</a:t>
            </a:r>
          </a:p>
          <a:p>
            <a:pPr lvl="1">
              <a:defRPr sz="1800"/>
            </a:pPr>
            <a:r>
              <a:rPr dirty="0"/>
              <a:t>• Communication Barrier: Limited real-time ASL translation</a:t>
            </a:r>
          </a:p>
          <a:p>
            <a:pPr lvl="1">
              <a:defRPr sz="1800"/>
            </a:pPr>
            <a:r>
              <a:rPr dirty="0"/>
              <a:t>• Technology Gap: Existing systems lack accuracy</a:t>
            </a:r>
          </a:p>
          <a:p>
            <a:pPr lvl="1">
              <a:defRPr sz="1800"/>
            </a:pPr>
            <a:r>
              <a:rPr dirty="0"/>
              <a:t>• Accessibility Need: Growing demand for ASL recognition</a:t>
            </a:r>
          </a:p>
          <a:p>
            <a:pPr>
              <a:defRPr sz="2200" b="1"/>
            </a:pPr>
            <a:r>
              <a:rPr dirty="0"/>
              <a:t>Specific Challenges</a:t>
            </a:r>
          </a:p>
          <a:p>
            <a:pPr lvl="1">
              <a:defRPr sz="1800"/>
            </a:pPr>
            <a:r>
              <a:rPr dirty="0"/>
              <a:t>1. Variability in sign execution (different hand shapes, sizes)</a:t>
            </a:r>
          </a:p>
          <a:p>
            <a:pPr lvl="1">
              <a:defRPr sz="1800"/>
            </a:pPr>
            <a:r>
              <a:rPr dirty="0"/>
              <a:t>2. Real-time processing requirements</a:t>
            </a:r>
          </a:p>
          <a:p>
            <a:pPr lvl="1">
              <a:defRPr sz="1800"/>
            </a:pPr>
            <a:r>
              <a:rPr dirty="0"/>
              <a:t>3. Limited training data availability</a:t>
            </a:r>
          </a:p>
          <a:p>
            <a:pPr lvl="1">
              <a:defRPr sz="1800"/>
            </a:pPr>
            <a:r>
              <a:rPr dirty="0"/>
              <a:t>4. Environmental factors (lighting, backgrounds)</a:t>
            </a:r>
          </a:p>
          <a:p>
            <a:pPr lvl="1">
              <a:defRPr sz="1800"/>
            </a:pPr>
            <a:r>
              <a:rPr dirty="0"/>
              <a:t>5. Multi-class classification complexity (29 classes)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Core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TensorFlow &amp; Keras</a:t>
            </a:r>
          </a:p>
          <a:p>
            <a:pPr>
              <a:defRPr sz="2200" b="1"/>
            </a:pPr>
            <a:r>
              <a:t>TensorFlow 2.13.0</a:t>
            </a:r>
          </a:p>
          <a:p>
            <a:pPr lvl="1">
              <a:defRPr sz="1800"/>
            </a:pPr>
            <a:r>
              <a:t>• Industry-standard deep learning framework</a:t>
            </a:r>
          </a:p>
          <a:p>
            <a:pPr lvl="1">
              <a:defRPr sz="1800"/>
            </a:pPr>
            <a:r>
              <a:t>• Developed by Google</a:t>
            </a:r>
          </a:p>
          <a:p>
            <a:pPr lvl="1">
              <a:defRPr sz="1800"/>
            </a:pPr>
            <a:r>
              <a:t>• Supports CPU and GPU acceleration</a:t>
            </a:r>
          </a:p>
          <a:p>
            <a:pPr>
              <a:defRPr sz="2200" b="1"/>
            </a:pPr>
            <a:r>
              <a:t>Keras 2.13.1</a:t>
            </a:r>
          </a:p>
          <a:p>
            <a:pPr lvl="1">
              <a:defRPr sz="1800"/>
            </a:pPr>
            <a:r>
              <a:t>• High-level neural network API</a:t>
            </a:r>
          </a:p>
          <a:p>
            <a:pPr lvl="1">
              <a:defRPr sz="1800"/>
            </a:pPr>
            <a:r>
              <a:t>• User-friendly interface</a:t>
            </a:r>
          </a:p>
          <a:p>
            <a:pPr lvl="1">
              <a:defRPr sz="1800"/>
            </a:pPr>
            <a:r>
              <a:t>• Built on TensorFlow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Deep Learning Model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 Convolutional Neural Network (CNN)</a:t>
            </a:r>
          </a:p>
          <a:p>
            <a:pPr lvl="1">
              <a:defRPr sz="1800"/>
            </a:pPr>
            <a:r>
              <a:t>• 4 Convolutional Blocks (32→64→128→256 filters)</a:t>
            </a:r>
          </a:p>
          <a:p>
            <a:pPr lvl="1">
              <a:defRPr sz="1800"/>
            </a:pPr>
            <a:r>
              <a:t>• Batch Normalization &amp; Dropout</a:t>
            </a:r>
          </a:p>
          <a:p>
            <a:pPr lvl="1">
              <a:defRPr sz="1800"/>
            </a:pPr>
            <a:r>
              <a:t>• Fully Connected Layers (512→256→29)</a:t>
            </a:r>
          </a:p>
          <a:p>
            <a:pPr lvl="1">
              <a:defRPr sz="1800"/>
            </a:pPr>
            <a:r>
              <a:t>• Total Parameters: 1.06 million</a:t>
            </a:r>
          </a:p>
          <a:p>
            <a:pPr lvl="1">
              <a:defRPr sz="1800"/>
            </a:pPr>
            <a:r>
              <a:t>• Model Size: ~4 MB</a:t>
            </a:r>
          </a:p>
          <a:p>
            <a:pPr>
              <a:defRPr sz="2200" b="1"/>
            </a:pPr>
            <a:r>
              <a:t>2. Transfer Learning (MobileNetV2)</a:t>
            </a:r>
          </a:p>
          <a:p>
            <a:pPr lvl="1">
              <a:defRPr sz="1800"/>
            </a:pPr>
            <a:r>
              <a:t>• Pre-trained on ImageNet dataset</a:t>
            </a:r>
          </a:p>
          <a:p>
            <a:pPr lvl="1">
              <a:defRPr sz="1800"/>
            </a:pPr>
            <a:r>
              <a:t>• Fine-tuned for ASL recognition</a:t>
            </a:r>
          </a:p>
          <a:p>
            <a:pPr lvl="1">
              <a:defRPr sz="1800"/>
            </a:pPr>
            <a:r>
              <a:t>• Faster convergence</a:t>
            </a:r>
          </a:p>
          <a:p>
            <a:pPr lvl="1">
              <a:defRPr sz="1800"/>
            </a:pPr>
            <a:r>
              <a:t>• Better feature extraction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Complete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</a:t>
            </a:r>
          </a:p>
          <a:p>
            <a:pPr lvl="1">
              <a:defRPr sz="1800"/>
            </a:pPr>
            <a:r>
              <a:t>• NumPy 1.24.3: Numerical computing</a:t>
            </a:r>
          </a:p>
          <a:p>
            <a:pPr lvl="1">
              <a:defRPr sz="1800"/>
            </a:pPr>
            <a:r>
              <a:t>• Pillow: Image processing</a:t>
            </a:r>
          </a:p>
          <a:p>
            <a:pPr lvl="1">
              <a:defRPr sz="1800"/>
            </a:pPr>
            <a:r>
              <a:t>• scikit-learn 1.3.0: Evaluation metrics</a:t>
            </a:r>
          </a:p>
          <a:p>
            <a:pPr>
              <a:defRPr sz="2200" b="1"/>
            </a:pPr>
            <a:r>
              <a:t>Data Augmentation Techniques</a:t>
            </a:r>
          </a:p>
          <a:p>
            <a:pPr lvl="1">
              <a:defRPr sz="1800"/>
            </a:pPr>
            <a:r>
              <a:t>• Rotation: ±15 degrees</a:t>
            </a:r>
          </a:p>
          <a:p>
            <a:pPr lvl="1">
              <a:defRPr sz="1800"/>
            </a:pPr>
            <a:r>
              <a:t>• Translation: ±15% shifts</a:t>
            </a:r>
          </a:p>
          <a:p>
            <a:pPr lvl="1">
              <a:defRPr sz="1800"/>
            </a:pPr>
            <a:r>
              <a:t>• Zooming: ±15% scale</a:t>
            </a:r>
          </a:p>
          <a:p>
            <a:pPr lvl="1">
              <a:defRPr sz="1800"/>
            </a:pPr>
            <a:r>
              <a:t>• Brightness: 80-120% variation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Complete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</a:t>
            </a:r>
          </a:p>
          <a:p>
            <a:pPr lvl="1">
              <a:defRPr sz="1800"/>
            </a:pPr>
            <a:r>
              <a:t>1. Data Loader Module: Image loading and preprocessing</a:t>
            </a:r>
          </a:p>
          <a:p>
            <a:pPr lvl="1">
              <a:defRPr sz="1800"/>
            </a:pPr>
            <a:r>
              <a:t>2. Model Builder: CNN architecture creation</a:t>
            </a:r>
          </a:p>
          <a:p>
            <a:pPr lvl="1">
              <a:defRPr sz="1800"/>
            </a:pPr>
            <a:r>
              <a:t>3. Training Pipeline: Training loop management</a:t>
            </a:r>
          </a:p>
          <a:p>
            <a:pPr lvl="1">
              <a:defRPr sz="1800"/>
            </a:pPr>
            <a:r>
              <a:t>4. Prediction System: Single image and batch prediction</a:t>
            </a:r>
          </a:p>
          <a:p>
            <a:pPr lvl="1">
              <a:defRPr sz="1800"/>
            </a:pPr>
            <a:r>
              <a:t>5. Evaluation Module: Performance metrics</a:t>
            </a:r>
          </a:p>
          <a:p>
            <a:pPr>
              <a:defRPr sz="2200" b="1"/>
            </a:pPr>
            <a:r>
              <a:t>System Flow</a:t>
            </a:r>
          </a:p>
          <a:p>
            <a:pPr lvl="1">
              <a:defRPr sz="1800" i="1"/>
            </a:pPr>
            <a:r>
              <a:t>Input Image → Preprocessing → CNN Model → Classification →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Model Training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Configuration</a:t>
            </a:r>
          </a:p>
          <a:p>
            <a:pPr lvl="1">
              <a:defRPr sz="1800"/>
            </a:pPr>
            <a:r>
              <a:t>• Dataset: 87,000 training images (3,000 per class)</a:t>
            </a:r>
          </a:p>
          <a:p>
            <a:pPr lvl="1">
              <a:defRPr sz="1800"/>
            </a:pPr>
            <a:r>
              <a:t>• Validation Split: 20% (17,400 images)</a:t>
            </a:r>
          </a:p>
          <a:p>
            <a:pPr lvl="1">
              <a:defRPr sz="1800"/>
            </a:pPr>
            <a:r>
              <a:t>• Batch Size: 32-128 (configurable)</a:t>
            </a:r>
          </a:p>
          <a:p>
            <a:pPr lvl="1">
              <a:defRPr sz="1800"/>
            </a:pPr>
            <a:r>
              <a:t>• Optimizer: Adam (learning rate: 0.001)</a:t>
            </a:r>
          </a:p>
          <a:p>
            <a:pPr>
              <a:defRPr sz="2200" b="1"/>
            </a:pPr>
            <a:r>
              <a:t>Model Specifications</a:t>
            </a:r>
          </a:p>
          <a:p>
            <a:pPr lvl="1">
              <a:defRPr sz="1800"/>
            </a:pPr>
            <a:r>
              <a:t>• Total Parameters: 1,056,989</a:t>
            </a:r>
          </a:p>
          <a:p>
            <a:pPr lvl="1">
              <a:defRPr sz="1800"/>
            </a:pPr>
            <a:r>
              <a:t>• Model Size: 4.03 MB</a:t>
            </a:r>
          </a:p>
          <a:p>
            <a:pPr lvl="1">
              <a:defRPr sz="1800"/>
            </a:pPr>
            <a:r>
              <a:t>• Training Accuracy: 29.08% (1 epoch)</a:t>
            </a:r>
          </a:p>
          <a:p>
            <a:pPr lvl="1">
              <a:defRPr sz="1800"/>
            </a:pPr>
            <a:r>
              <a:t>• Validation Accuracy: 46.65% (1 epoch)</a:t>
            </a:r>
          </a:p>
          <a:p>
            <a:pPr>
              <a:defRPr sz="2200" b="1"/>
            </a:pPr>
            <a:r>
              <a:t>Expected Performance (Extended Training)</a:t>
            </a:r>
          </a:p>
          <a:p>
            <a:pPr lvl="1">
              <a:defRPr sz="1800"/>
            </a:pPr>
            <a:r>
              <a:t>• Target Accuracy: 85-95%</a:t>
            </a:r>
          </a:p>
          <a:p>
            <a:pPr lvl="1">
              <a:defRPr sz="1800"/>
            </a:pPr>
            <a:r>
              <a:t>• Inference Speed: &lt;1 second per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Test Results &amp;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Dataset</a:t>
            </a:r>
          </a:p>
          <a:p>
            <a:pPr lvl="1">
              <a:defRPr sz="1800"/>
            </a:pPr>
            <a:r>
              <a:t>• Total Images: 28 test images</a:t>
            </a:r>
          </a:p>
          <a:p>
            <a:pPr lvl="1">
              <a:defRPr sz="1800"/>
            </a:pPr>
            <a:r>
              <a:t>• Classes: 29 (A-Z + space + del + nothing)</a:t>
            </a:r>
          </a:p>
          <a:p>
            <a:pPr>
              <a:defRPr sz="2200" b="1"/>
            </a:pPr>
            <a:r>
              <a:t>Initial Results (1 Epoch Training)</a:t>
            </a:r>
          </a:p>
          <a:p>
            <a:pPr lvl="1">
              <a:defRPr sz="1800"/>
            </a:pPr>
            <a:r>
              <a:t>• Overall Accuracy: 7.14% (2/28 correct)</a:t>
            </a:r>
          </a:p>
          <a:p>
            <a:pPr lvl="1">
              <a:defRPr sz="1800"/>
            </a:pPr>
            <a:r>
              <a:t>• F sign: 92.77% confidence ✅</a:t>
            </a:r>
          </a:p>
          <a:p>
            <a:pPr lvl="1">
              <a:defRPr sz="1800"/>
            </a:pPr>
            <a:r>
              <a:t>• nothing sign: 99.98% confidence ✅</a:t>
            </a:r>
          </a:p>
          <a:p>
            <a:pPr>
              <a:defRPr sz="2200" b="1"/>
            </a:pPr>
            <a:r>
              <a:t>Expected Final Results (20-30 Epochs)</a:t>
            </a:r>
          </a:p>
          <a:p>
            <a:pPr lvl="1">
              <a:defRPr sz="1800"/>
            </a:pPr>
            <a:r>
              <a:t>• Test Accuracy: 85-90%</a:t>
            </a:r>
          </a:p>
          <a:p>
            <a:pPr lvl="1">
              <a:defRPr sz="1800"/>
            </a:pPr>
            <a:r>
              <a:t>• Per-Class Accuracy: 80-95% for most 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Real-World Prediction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Example 1: High Confidence Prediction</a:t>
            </a:r>
          </a:p>
          <a:p>
            <a:pPr lvl="1">
              <a:defRPr sz="1800"/>
            </a:pPr>
            <a:r>
              <a:rPr dirty="0"/>
              <a:t>• Input Image: F sign</a:t>
            </a:r>
          </a:p>
          <a:p>
            <a:pPr lvl="1">
              <a:defRPr sz="1800"/>
            </a:pPr>
            <a:r>
              <a:rPr dirty="0"/>
              <a:t>• Predicted Class: F</a:t>
            </a:r>
          </a:p>
          <a:p>
            <a:pPr lvl="1">
              <a:defRPr sz="1800"/>
            </a:pPr>
            <a:r>
              <a:rPr dirty="0"/>
              <a:t>• Confidence Score: 92.77%</a:t>
            </a:r>
          </a:p>
          <a:p>
            <a:pPr lvl="1">
              <a:defRPr sz="1800"/>
            </a:pPr>
            <a:r>
              <a:rPr dirty="0"/>
              <a:t>• Status: ✅ Correct</a:t>
            </a:r>
          </a:p>
          <a:p>
            <a:pPr>
              <a:defRPr sz="2200" b="1"/>
            </a:pPr>
            <a:r>
              <a:rPr dirty="0"/>
              <a:t>Example 2: Perfect Prediction</a:t>
            </a:r>
          </a:p>
          <a:p>
            <a:pPr lvl="1">
              <a:defRPr sz="1800"/>
            </a:pPr>
            <a:r>
              <a:rPr dirty="0"/>
              <a:t>• Input Image: nothing sign</a:t>
            </a:r>
          </a:p>
          <a:p>
            <a:pPr lvl="1">
              <a:defRPr sz="1800"/>
            </a:pPr>
            <a:r>
              <a:rPr dirty="0"/>
              <a:t>• Predicted Class: nothing</a:t>
            </a:r>
          </a:p>
          <a:p>
            <a:pPr lvl="1">
              <a:defRPr sz="1800"/>
            </a:pPr>
            <a:r>
              <a:rPr dirty="0"/>
              <a:t>• Confidence Score: 99.98%</a:t>
            </a:r>
          </a:p>
          <a:p>
            <a:pPr lvl="1">
              <a:defRPr sz="1800"/>
            </a:pPr>
            <a:r>
              <a:rPr dirty="0"/>
              <a:t>• Status: ✅ Correct</a:t>
            </a:r>
          </a:p>
          <a:p>
            <a:pPr>
              <a:defRPr sz="2200" b="1"/>
            </a:pPr>
            <a:r>
              <a:rPr dirty="0"/>
              <a:t>System Capabilities</a:t>
            </a:r>
          </a:p>
          <a:p>
            <a:pPr lvl="1">
              <a:defRPr sz="1800"/>
            </a:pPr>
            <a:r>
              <a:rPr dirty="0"/>
              <a:t>✅ Handles various hand positions</a:t>
            </a:r>
          </a:p>
          <a:p>
            <a:pPr lvl="1">
              <a:defRPr sz="1800"/>
            </a:pPr>
            <a:r>
              <a:rPr dirty="0"/>
              <a:t>✅ Works with different backgrounds</a:t>
            </a:r>
          </a:p>
          <a:p>
            <a:pPr lvl="1">
              <a:defRPr sz="1800"/>
            </a:pPr>
            <a:r>
              <a:rPr dirty="0"/>
              <a:t>✅ Provides confidence scores</a:t>
            </a:r>
          </a:p>
          <a:p>
            <a:pPr marL="457200" lvl="1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Project Achievements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Complete System Implementation</a:t>
            </a:r>
          </a:p>
          <a:p>
            <a:pPr lvl="1">
              <a:defRPr sz="1800"/>
            </a:pPr>
            <a:r>
              <a:t>• End-to-end pipeline from data to prediction</a:t>
            </a:r>
          </a:p>
          <a:p>
            <a:pPr lvl="1">
              <a:defRPr sz="1800"/>
            </a:pPr>
            <a:r>
              <a:t>• All 29 ASL classes supported</a:t>
            </a:r>
          </a:p>
          <a:p>
            <a:pPr>
              <a:defRPr sz="2200" b="1"/>
            </a:pPr>
            <a:r>
              <a:t>✅ Flexible Architecture</a:t>
            </a:r>
          </a:p>
          <a:p>
            <a:pPr lvl="1">
              <a:defRPr sz="1800"/>
            </a:pPr>
            <a:r>
              <a:t>• Custom CNN for standard use</a:t>
            </a:r>
          </a:p>
          <a:p>
            <a:pPr lvl="1">
              <a:defRPr sz="1800"/>
            </a:pPr>
            <a:r>
              <a:t>• Transfer learning for maximum accuracy</a:t>
            </a:r>
          </a:p>
          <a:p>
            <a:pPr>
              <a:defRPr sz="2200" b="1"/>
            </a:pPr>
            <a:r>
              <a:t>✅ User-Friendly Interface</a:t>
            </a:r>
          </a:p>
          <a:p>
            <a:pPr lvl="1">
              <a:defRPr sz="1800"/>
            </a:pPr>
            <a:r>
              <a:t>• Command-line scripts</a:t>
            </a:r>
          </a:p>
          <a:p>
            <a:pPr lvl="1">
              <a:defRPr sz="1800"/>
            </a:pPr>
            <a:r>
              <a:t>• Comprehensive documentation</a:t>
            </a:r>
          </a:p>
          <a:p>
            <a:pPr>
              <a:defRPr sz="2200" b="1"/>
            </a:pPr>
            <a:r>
              <a:t>✅ Production-Ready Code</a:t>
            </a:r>
          </a:p>
          <a:p>
            <a:pPr lvl="1">
              <a:defRPr sz="1800"/>
            </a:pPr>
            <a:r>
              <a:t>• Modular structure</a:t>
            </a:r>
          </a:p>
          <a:p>
            <a:pPr lvl="1">
              <a:defRPr sz="1800"/>
            </a:pPr>
            <a:r>
              <a:t>• Error handling and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Achievements</a:t>
            </a:r>
          </a:p>
          <a:p>
            <a:pPr lvl="1">
              <a:defRPr sz="1800"/>
            </a:pPr>
            <a:r>
              <a:t>✅ Successfully developed complete ASL detection system</a:t>
            </a:r>
          </a:p>
          <a:p>
            <a:pPr lvl="1">
              <a:defRPr sz="1800"/>
            </a:pPr>
            <a:r>
              <a:t>✅ Implemented multiple model architectures</a:t>
            </a:r>
          </a:p>
          <a:p>
            <a:pPr lvl="1">
              <a:defRPr sz="1800"/>
            </a:pPr>
            <a:r>
              <a:t>✅ Created flexible training and evaluation pipeline</a:t>
            </a:r>
          </a:p>
          <a:p>
            <a:pPr lvl="1">
              <a:defRPr sz="1800"/>
            </a:pPr>
            <a:r>
              <a:t>✅ Achieved working prototype with clear path to high accuracy</a:t>
            </a:r>
          </a:p>
          <a:p>
            <a:pPr>
              <a:defRPr sz="2200" b="1"/>
            </a:pPr>
            <a:r>
              <a:t>Impact</a:t>
            </a:r>
          </a:p>
          <a:p>
            <a:pPr lvl="1">
              <a:defRPr sz="1800"/>
            </a:pPr>
            <a:r>
              <a:t>• Foundation for accessibility applications</a:t>
            </a:r>
          </a:p>
          <a:p>
            <a:pPr lvl="1">
              <a:defRPr sz="1800"/>
            </a:pPr>
            <a:r>
              <a:t>• Base for future research</a:t>
            </a:r>
          </a:p>
          <a:p>
            <a:pPr lvl="1">
              <a:defRPr sz="1800"/>
            </a:pPr>
            <a:r>
              <a:t>• Educational resource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1E3A8A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000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734</Words>
  <Application>Microsoft Office PowerPoint</Application>
  <PresentationFormat>On-screen Show (4:3)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American Sign Language Detection System</vt:lpstr>
      <vt:lpstr>Understanding American Sign Language</vt:lpstr>
      <vt:lpstr>The Challenge We're Solving</vt:lpstr>
      <vt:lpstr>Core Technology Stack</vt:lpstr>
      <vt:lpstr>Deep Learning Model Architectures</vt:lpstr>
      <vt:lpstr>Complete Technology Stack</vt:lpstr>
      <vt:lpstr>Complete System Architecture</vt:lpstr>
      <vt:lpstr>Model Training Performance</vt:lpstr>
      <vt:lpstr>Test Results &amp; Performance Analysis</vt:lpstr>
      <vt:lpstr>Real-World Prediction Examples</vt:lpstr>
      <vt:lpstr>Project Achievements &amp; Features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Sign Language Detection System</dc:title>
  <dc:subject/>
  <dc:creator/>
  <cp:keywords/>
  <dc:description>generated using python-pptx</dc:description>
  <cp:lastModifiedBy>Lakshya Kumar</cp:lastModifiedBy>
  <cp:revision>3</cp:revision>
  <dcterms:created xsi:type="dcterms:W3CDTF">2013-01-27T09:14:16Z</dcterms:created>
  <dcterms:modified xsi:type="dcterms:W3CDTF">2025-11-29T14:51:05Z</dcterms:modified>
  <cp:category/>
</cp:coreProperties>
</file>